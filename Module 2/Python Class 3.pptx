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Poppins" panose="000005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13C21F-075B-4032-8B6F-01161037D7BF}">
  <a:tblStyle styleId="{C813C21F-075B-4032-8B6F-01161037D7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15" y="6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10389" y="1409476"/>
            <a:ext cx="9771221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PYTHON MASTERCLASS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781300" y="2744642"/>
            <a:ext cx="66294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Live Class 1: Fundamental Logic &amp; Data Structures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657600" y="4166167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Strings • Numbers • Logic • Collections • Loops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910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25279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814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3762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286910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3425279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4125" y="39814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453762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CLASS ROADMAP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281672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Strings: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Methods &amp; Formatting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337289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Precedence &amp; Functions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392906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Logic: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Comparisons &amp; If-Else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448523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Matching: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Ternary &amp; Match Case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62750" y="281672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Lists &amp; Tuples: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Methods Deep Dive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62750" y="337289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Sets &amp; Dicts: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Key Operations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0" y="392906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Loops: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For, While &amp; range()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62750" y="448523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Practice: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Dummy Problem Solving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98427"/>
            <a:ext cx="52863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9621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STRINGS: TEXTUAL FOUNDATION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389882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Strings are immutable sequences of characters.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4212877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Zero-indexed access: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name[0]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4769048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Slicing: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name[0:2]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25181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70794"/>
            <a:ext cx="3555950" cy="281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070794"/>
            <a:ext cx="3555950" cy="281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070794"/>
            <a:ext cx="3556099" cy="281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40416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40416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FORMATTED STRINGS (F-STRINGS)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013769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3490019"/>
            <a:ext cx="29654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Introduced in Python 3.6, f-strings are the fastest way to format text.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613225" y="3013769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Embedding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613225" y="3490019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Variables are placed directly inside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{curly braces}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59675" y="3013769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Expressions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359675" y="3490019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Evaluate math or calls inside the string: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f"{10*2}"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571500" y="2428875"/>
            <a:ext cx="11049000" cy="30003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17"/>
          <p:cNvGraphicFramePr/>
          <p:nvPr>
            <p:extLst>
              <p:ext uri="{D42A27DB-BD31-4B8C-83A1-F6EECF244321}">
                <p14:modId xmlns:p14="http://schemas.microsoft.com/office/powerpoint/2010/main" val="1054885022"/>
              </p:ext>
            </p:extLst>
          </p:nvPr>
        </p:nvGraphicFramePr>
        <p:xfrm>
          <a:off x="571500" y="2428875"/>
          <a:ext cx="11049000" cy="3000375"/>
        </p:xfrm>
        <a:graphic>
          <a:graphicData uri="http://schemas.openxmlformats.org/drawingml/2006/table">
            <a:tbl>
              <a:tblPr firstRow="1" bandRow="1">
                <a:noFill/>
                <a:tableStyleId>{C813C21F-075B-4032-8B6F-01161037D7BF}</a:tableStyleId>
              </a:tblPr>
              <a:tblGrid>
                <a:gridCol w="21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Output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.upper()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 CAPITALS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"python" → "PYTHON"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.lower()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 lowercase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"PYthon" → "python"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.title()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First Letter Capital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"hello world" → "Hello World"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.capitalize()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First letter only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"python is fun" → "Python is fun"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1" name="Google Shape;151;p17"/>
          <p:cNvSpPr/>
          <p:nvPr/>
        </p:nvSpPr>
        <p:spPr>
          <a:xfrm>
            <a:off x="571500" y="364331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749450" y="364331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485334" y="364331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423386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749450" y="423386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485334" y="423386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71500" y="482441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749450" y="482441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485334" y="482441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71500" y="541496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749450" y="541496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485334" y="541496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 METHODS: CASE CONTROL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19450"/>
            <a:ext cx="52863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 METHODS: DISCOVERY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309473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.find('p'):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first index or -1 if not found.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00125" y="365090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.replace('a', 'b'):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Swaps all occurrences.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420707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.count('s'):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Frequency of substring.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29991"/>
            <a:ext cx="355609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 METHODS: VALIDATION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.isalpha()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6677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string is letters only (no spaces/nums).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1322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.isnumeric()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1322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string consists of digits only.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59675" y="33252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.strip()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359675" y="3801516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Removes leading and trailing whitespace.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60365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SPLITTING &amp; JOINING STRINGS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44748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Crucial for parsing CSV data or user inputs.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1: INPUT SANITIZER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user provides their email with accidental spaces and mixed cases.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4175"/>
            <a:ext cx="3192214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44714" y="2924175"/>
            <a:ext cx="3192214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866775" y="3219450"/>
            <a:ext cx="26016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int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66775" y="4457700"/>
            <a:ext cx="260166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Whole Numbers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439989" y="3219450"/>
            <a:ext cx="26016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float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439989" y="4457700"/>
            <a:ext cx="260166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Decimals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7928" y="2024062"/>
            <a:ext cx="3902571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NUMBERS: INTS &amp; FLOATS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71500" y="2428875"/>
            <a:ext cx="11049000" cy="30003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3"/>
          <p:cNvGraphicFramePr/>
          <p:nvPr>
            <p:extLst>
              <p:ext uri="{D42A27DB-BD31-4B8C-83A1-F6EECF244321}">
                <p14:modId xmlns:p14="http://schemas.microsoft.com/office/powerpoint/2010/main" val="496841868"/>
              </p:ext>
            </p:extLst>
          </p:nvPr>
        </p:nvGraphicFramePr>
        <p:xfrm>
          <a:off x="563262" y="2428875"/>
          <a:ext cx="11049000" cy="3000375"/>
        </p:xfrm>
        <a:graphic>
          <a:graphicData uri="http://schemas.openxmlformats.org/drawingml/2006/table">
            <a:tbl>
              <a:tblPr firstRow="1" bandRow="1">
                <a:noFill/>
                <a:tableStyleId>{C813C21F-075B-4032-8B6F-01161037D7BF}</a:tableStyleId>
              </a:tblPr>
              <a:tblGrid>
                <a:gridCol w="254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**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Exponent (Power)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** 3 → 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Float Division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/ 3 → 3.33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//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Floor Division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// 3 → 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Modulus (Remainder)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10 % 3 → 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1" name="Google Shape;231;p23"/>
          <p:cNvSpPr/>
          <p:nvPr/>
        </p:nvSpPr>
        <p:spPr>
          <a:xfrm>
            <a:off x="571500" y="364331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112740" y="364331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8106816" y="364331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71500" y="423386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112740" y="423386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8106816" y="423386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482441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112740" y="482441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8106816" y="482441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541496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112740" y="541496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8106816" y="541496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ARITHMETIC OPERATORS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03512"/>
            <a:ext cx="11049000" cy="74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83112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389262"/>
            <a:ext cx="10477500" cy="174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OPERATOR PRECEDENCE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486001"/>
            <a:ext cx="52863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MATH MODULE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000125" y="309473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math.ceil(2.1):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3 (Always up)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000125" y="365090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math.floor(2.9):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2 (Always down)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000125" y="420707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math.sqrt(16):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4.0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6823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591073"/>
            <a:ext cx="10477500" cy="13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2: CIRCLE AREA</a:t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274915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Calculate circle area given radius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r = 5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3070" y="31402"/>
            <a:ext cx="66751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762000" y="7620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COMPARISONS</a:t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571500" y="7620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571500" y="4953744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 is always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False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1000125" y="2538561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==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Equality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1000125" y="3094732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!=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Not Equal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1000125" y="3650902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&gt; / &lt;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Greater / Less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1000125" y="4207073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&gt;= / &lt;=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Bound comparisons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09058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87066"/>
            <a:ext cx="355595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487066"/>
            <a:ext cx="355595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487066"/>
            <a:ext cx="3556099" cy="18362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LOGICAL OPERATORS</a:t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866775" y="2820441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866775" y="3296691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BOTH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conditions are met.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4613225" y="2820441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4613225" y="3296691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AT LEAST ONE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met.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8359675" y="2820441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not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8359675" y="3296691"/>
            <a:ext cx="296554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INVERTS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Boolean result.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39579"/>
            <a:ext cx="5286375" cy="92184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CONDITIONAL DECISION</a:t>
            </a:r>
            <a:endParaRPr/>
          </a:p>
        </p:txBody>
      </p:sp>
      <p:sp>
        <p:nvSpPr>
          <p:cNvPr id="313" name="Google Shape;313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6334125" y="342527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Structure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334125" y="3701504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Indentation defines code blocks.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elif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optional and can repeat.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else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the final catch-all.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6625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TERNARY OPERATOR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 txBox="1"/>
          <p:nvPr/>
        </p:nvSpPr>
        <p:spPr>
          <a:xfrm>
            <a:off x="571500" y="296807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compact way to write if-else in a single line.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571500" y="452437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Syntax: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Result1 if Condition else Result2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5700"/>
            <a:ext cx="11049000" cy="9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MATCH CASE (SWITCH)</a:t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571500" y="318715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Structural Pattern Matching (Python 3.10+).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3241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3: CINEMA TICKET</a:t>
            </a:r>
            <a:endParaRPr/>
          </a:p>
        </p:txBody>
      </p:sp>
      <p:sp>
        <p:nvSpPr>
          <p:cNvPr id="342" name="Google Shape;342;p3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571500" y="232618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Price depends on age.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1000125" y="2691854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Under 5: Free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1000125" y="324802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5-17: $10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000125" y="380419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18+: $20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8910"/>
            <a:ext cx="52863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33587"/>
            <a:ext cx="895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LISTS: DYNAMIC ARRAYS</a:t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571500" y="3160365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Ordered, mutable collections of items.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59D139-C0B8-4B02-BDA9-60F8C33CD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040067"/>
            <a:ext cx="5276850" cy="382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29991"/>
            <a:ext cx="355609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 METHODS: GROWING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86677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.append(x)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86677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Adds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one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item to the very end.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461322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.extend(list)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461322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Adds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multiple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items from another list.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8359675" y="33252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.insert(i, x)</a:t>
            </a:r>
            <a:endParaRPr/>
          </a:p>
        </p:txBody>
      </p:sp>
      <p:sp>
        <p:nvSpPr>
          <p:cNvPr id="373" name="Google Shape;373;p34"/>
          <p:cNvSpPr txBox="1"/>
          <p:nvPr/>
        </p:nvSpPr>
        <p:spPr>
          <a:xfrm>
            <a:off x="8359675" y="3801516"/>
            <a:ext cx="296554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Adds item at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specific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index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5"/>
          <p:cNvSpPr/>
          <p:nvPr/>
        </p:nvSpPr>
        <p:spPr>
          <a:xfrm>
            <a:off x="571500" y="2447925"/>
            <a:ext cx="11049000" cy="29622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35"/>
          <p:cNvGraphicFramePr/>
          <p:nvPr>
            <p:extLst>
              <p:ext uri="{D42A27DB-BD31-4B8C-83A1-F6EECF244321}">
                <p14:modId xmlns:p14="http://schemas.microsoft.com/office/powerpoint/2010/main" val="3286096700"/>
              </p:ext>
            </p:extLst>
          </p:nvPr>
        </p:nvGraphicFramePr>
        <p:xfrm>
          <a:off x="571500" y="2447925"/>
          <a:ext cx="11049000" cy="2962250"/>
        </p:xfrm>
        <a:graphic>
          <a:graphicData uri="http://schemas.openxmlformats.org/drawingml/2006/table">
            <a:tbl>
              <a:tblPr firstRow="1" bandRow="1">
                <a:noFill/>
                <a:tableStyleId>{C813C21F-075B-4032-8B6F-01161037D7BF}</a:tableStyleId>
              </a:tblPr>
              <a:tblGrid>
                <a:gridCol w="334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Behavior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.pop()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and returns </a:t>
                      </a: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last</a:t>
                      </a: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item.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.pop(index)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item at specific index.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.remove(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first occurrence of </a:t>
                      </a: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</a:t>
                      </a: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.clear()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Deletes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items.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1" name="Google Shape;381;p35"/>
          <p:cNvSpPr/>
          <p:nvPr/>
        </p:nvSpPr>
        <p:spPr>
          <a:xfrm>
            <a:off x="571500" y="3652837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3918198" y="3652837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571500" y="4233862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3918198" y="4233862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571500" y="4814887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3918198" y="4814887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571500" y="5395912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3918198" y="5395912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 METHODS: SHRINKING</a:t>
            </a:r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53681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 METHODS: ORDER</a:t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1000125" y="2642294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.sort():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Modifies original list in ascending order.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1000125" y="319846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.reverse():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Flips the order of elements.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1000125" y="375463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.copy():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a shallow copy.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4: TASK MANAGER</a:t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7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Add "Coding" to tasks, remove "Email", and sort.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TUPLES: READ-ONLY</a:t>
            </a:r>
            <a:endParaRPr/>
          </a:p>
        </p:txBody>
      </p:sp>
      <p:sp>
        <p:nvSpPr>
          <p:cNvPr id="418" name="Google Shape;418;p3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8"/>
          <p:cNvSpPr txBox="1"/>
          <p:nvPr/>
        </p:nvSpPr>
        <p:spPr>
          <a:xfrm>
            <a:off x="571500" y="301570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Fixed sequences that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cannot be changed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after creation.</a:t>
            </a:r>
            <a:endParaRPr/>
          </a:p>
        </p:txBody>
      </p:sp>
      <p:sp>
        <p:nvSpPr>
          <p:cNvPr id="420" name="Google Shape;420;p38"/>
          <p:cNvSpPr txBox="1"/>
          <p:nvPr/>
        </p:nvSpPr>
        <p:spPr>
          <a:xfrm>
            <a:off x="571500" y="44767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Faster than lists. Used for fixed constants (GPS, Colors).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486001"/>
            <a:ext cx="52863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TUPLE METHODS &amp; UNPACKING</a:t>
            </a:r>
            <a:endParaRPr/>
          </a:p>
        </p:txBody>
      </p:sp>
      <p:sp>
        <p:nvSpPr>
          <p:cNvPr id="428" name="Google Shape;428;p3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1000125" y="3089969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.count(x):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Count occurrences.</a:t>
            </a:r>
            <a:endParaRPr/>
          </a:p>
        </p:txBody>
      </p:sp>
      <p:sp>
        <p:nvSpPr>
          <p:cNvPr id="430" name="Google Shape;430;p39"/>
          <p:cNvSpPr txBox="1"/>
          <p:nvPr/>
        </p:nvSpPr>
        <p:spPr>
          <a:xfrm>
            <a:off x="1000125" y="3646140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.index(x):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Find first index.</a:t>
            </a:r>
            <a:endParaRPr/>
          </a:p>
        </p:txBody>
      </p:sp>
      <p:sp>
        <p:nvSpPr>
          <p:cNvPr id="431" name="Google Shape;431;p39"/>
          <p:cNvSpPr txBox="1"/>
          <p:nvPr/>
        </p:nvSpPr>
        <p:spPr>
          <a:xfrm>
            <a:off x="1000125" y="4202310"/>
            <a:ext cx="4857750" cy="3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Unpacking: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x, y = (10, 20)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5170"/>
            <a:ext cx="52863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24062"/>
            <a:ext cx="971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SETS: UNIQUE COLLECTIONS</a:t>
            </a:r>
            <a:endParaRPr/>
          </a:p>
        </p:txBody>
      </p:sp>
      <p:sp>
        <p:nvSpPr>
          <p:cNvPr id="440" name="Google Shape;440;p4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0"/>
          <p:cNvSpPr txBox="1"/>
          <p:nvPr/>
        </p:nvSpPr>
        <p:spPr>
          <a:xfrm>
            <a:off x="571500" y="3110954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Unordered collection of unique items. No duplicates allowed!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29991"/>
            <a:ext cx="355609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SET OPERATIONS</a:t>
            </a:r>
            <a:endParaRPr/>
          </a:p>
        </p:txBody>
      </p:sp>
      <p:sp>
        <p:nvSpPr>
          <p:cNvPr id="451" name="Google Shape;451;p4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1"/>
          <p:cNvSpPr txBox="1"/>
          <p:nvPr/>
        </p:nvSpPr>
        <p:spPr>
          <a:xfrm>
            <a:off x="86677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.add(x)</a:t>
            </a:r>
            <a:endParaRPr/>
          </a:p>
        </p:txBody>
      </p:sp>
      <p:sp>
        <p:nvSpPr>
          <p:cNvPr id="453" name="Google Shape;453;p41"/>
          <p:cNvSpPr txBox="1"/>
          <p:nvPr/>
        </p:nvSpPr>
        <p:spPr>
          <a:xfrm>
            <a:off x="86677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Inserts item (ignored if already present).</a:t>
            </a:r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461322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.union(s)</a:t>
            </a:r>
            <a:endParaRPr/>
          </a:p>
        </p:txBody>
      </p:sp>
      <p:sp>
        <p:nvSpPr>
          <p:cNvPr id="455" name="Google Shape;455;p41"/>
          <p:cNvSpPr txBox="1"/>
          <p:nvPr/>
        </p:nvSpPr>
        <p:spPr>
          <a:xfrm>
            <a:off x="461322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Combines items from both sets (no duplicates).</a:t>
            </a:r>
            <a:endParaRPr/>
          </a:p>
        </p:txBody>
      </p:sp>
      <p:sp>
        <p:nvSpPr>
          <p:cNvPr id="456" name="Google Shape;456;p41"/>
          <p:cNvSpPr txBox="1"/>
          <p:nvPr/>
        </p:nvSpPr>
        <p:spPr>
          <a:xfrm>
            <a:off x="8359675" y="33252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.intersection(s)</a:t>
            </a:r>
            <a:endParaRPr/>
          </a:p>
        </p:txBody>
      </p:sp>
      <p:sp>
        <p:nvSpPr>
          <p:cNvPr id="457" name="Google Shape;457;p41"/>
          <p:cNvSpPr txBox="1"/>
          <p:nvPr/>
        </p:nvSpPr>
        <p:spPr>
          <a:xfrm>
            <a:off x="8359675" y="3801516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Only items found in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BOTH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sets.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5: UNIQUE LOGINS</a:t>
            </a:r>
            <a:endParaRPr/>
          </a:p>
        </p:txBody>
      </p:sp>
      <p:sp>
        <p:nvSpPr>
          <p:cNvPr id="465" name="Google Shape;465;p4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2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Extract unique usernames from a list of logs.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8910"/>
            <a:ext cx="52863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DICTIONARIES: KEY-VALUE</a:t>
            </a:r>
            <a:endParaRPr/>
          </a:p>
        </p:txBody>
      </p:sp>
      <p:sp>
        <p:nvSpPr>
          <p:cNvPr id="476" name="Google Shape;476;p4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3"/>
          <p:cNvSpPr txBox="1"/>
          <p:nvPr/>
        </p:nvSpPr>
        <p:spPr>
          <a:xfrm>
            <a:off x="571500" y="3160365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Mappable data structures (Key → Value).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DICT METHODS: ACCESS</a:t>
            </a:r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1000125" y="2816721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.get(key, default):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Safely access keys (no errors).</a:t>
            </a:r>
            <a:endParaRPr/>
          </a:p>
        </p:txBody>
      </p:sp>
      <p:sp>
        <p:nvSpPr>
          <p:cNvPr id="486" name="Google Shape;486;p44"/>
          <p:cNvSpPr txBox="1"/>
          <p:nvPr/>
        </p:nvSpPr>
        <p:spPr>
          <a:xfrm>
            <a:off x="1000125" y="3372891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.keys():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list of all keys.</a:t>
            </a:r>
            <a:endParaRPr/>
          </a:p>
        </p:txBody>
      </p:sp>
      <p:sp>
        <p:nvSpPr>
          <p:cNvPr id="487" name="Google Shape;487;p44"/>
          <p:cNvSpPr txBox="1"/>
          <p:nvPr/>
        </p:nvSpPr>
        <p:spPr>
          <a:xfrm>
            <a:off x="1000125" y="3929062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.values():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list of all values.</a:t>
            </a:r>
            <a:endParaRPr/>
          </a:p>
        </p:txBody>
      </p:sp>
      <p:sp>
        <p:nvSpPr>
          <p:cNvPr id="488" name="Google Shape;488;p44"/>
          <p:cNvSpPr txBox="1"/>
          <p:nvPr/>
        </p:nvSpPr>
        <p:spPr>
          <a:xfrm>
            <a:off x="1000125" y="4485233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.items():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key-value pairs (tuples).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799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DICT METHODS: MODIFYING</a:t>
            </a:r>
            <a:endParaRPr/>
          </a:p>
        </p:txBody>
      </p:sp>
      <p:sp>
        <p:nvSpPr>
          <p:cNvPr id="496" name="Google Shape;496;p4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571500" y="44271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popitem()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remove the last inserted pair.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615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6: STOCK TRACKER</a:t>
            </a:r>
            <a:endParaRPr/>
          </a:p>
        </p:txBody>
      </p:sp>
      <p:sp>
        <p:nvSpPr>
          <p:cNvPr id="505" name="Google Shape;505;p4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0226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FOR LOOPS BASICS</a:t>
            </a:r>
            <a:endParaRPr/>
          </a:p>
        </p:txBody>
      </p:sp>
      <p:sp>
        <p:nvSpPr>
          <p:cNvPr id="513" name="Google Shape;513;p4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7"/>
          <p:cNvSpPr txBox="1"/>
          <p:nvPr/>
        </p:nvSpPr>
        <p:spPr>
          <a:xfrm>
            <a:off x="571500" y="3293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to iterate over items in a collection or a range.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59473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36502"/>
            <a:ext cx="5286375" cy="143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36502"/>
            <a:ext cx="5286375" cy="143247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RANGE &amp; ENUMERATE</a:t>
            </a:r>
            <a:endParaRPr/>
          </a:p>
        </p:txBody>
      </p:sp>
      <p:sp>
        <p:nvSpPr>
          <p:cNvPr id="524" name="Google Shape;524;p4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8"/>
          <p:cNvSpPr txBox="1"/>
          <p:nvPr/>
        </p:nvSpPr>
        <p:spPr>
          <a:xfrm>
            <a:off x="866775" y="3031777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range(5)</a:t>
            </a:r>
            <a:endParaRPr/>
          </a:p>
        </p:txBody>
      </p:sp>
      <p:sp>
        <p:nvSpPr>
          <p:cNvPr id="526" name="Google Shape;526;p48"/>
          <p:cNvSpPr txBox="1"/>
          <p:nvPr/>
        </p:nvSpPr>
        <p:spPr>
          <a:xfrm>
            <a:off x="866775" y="3508027"/>
            <a:ext cx="4695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Generates numbers 0 to 4.</a:t>
            </a:r>
            <a:endParaRPr/>
          </a:p>
        </p:txBody>
      </p:sp>
      <p:sp>
        <p:nvSpPr>
          <p:cNvPr id="527" name="Google Shape;527;p48"/>
          <p:cNvSpPr txBox="1"/>
          <p:nvPr/>
        </p:nvSpPr>
        <p:spPr>
          <a:xfrm>
            <a:off x="6629400" y="3031777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enumerate(list)</a:t>
            </a:r>
            <a:endParaRPr/>
          </a:p>
        </p:txBody>
      </p:sp>
      <p:sp>
        <p:nvSpPr>
          <p:cNvPr id="528" name="Google Shape;528;p48"/>
          <p:cNvSpPr txBox="1"/>
          <p:nvPr/>
        </p:nvSpPr>
        <p:spPr>
          <a:xfrm>
            <a:off x="6629400" y="3508027"/>
            <a:ext cx="4695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Returns index and value pairs.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0226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WHILE LOOPS</a:t>
            </a:r>
            <a:endParaRPr/>
          </a:p>
        </p:txBody>
      </p:sp>
      <p:sp>
        <p:nvSpPr>
          <p:cNvPr id="536" name="Google Shape;536;p4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9"/>
          <p:cNvSpPr txBox="1"/>
          <p:nvPr/>
        </p:nvSpPr>
        <p:spPr>
          <a:xfrm>
            <a:off x="571500" y="3293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Repeats as long as a condition is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2752"/>
            <a:ext cx="3555950" cy="143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212752"/>
            <a:ext cx="3555950" cy="143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212752"/>
            <a:ext cx="3556099" cy="143247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LOOP CONTROL</a:t>
            </a:r>
            <a:endParaRPr/>
          </a:p>
        </p:txBody>
      </p:sp>
      <p:sp>
        <p:nvSpPr>
          <p:cNvPr id="547" name="Google Shape;547;p5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0"/>
          <p:cNvSpPr txBox="1"/>
          <p:nvPr/>
        </p:nvSpPr>
        <p:spPr>
          <a:xfrm>
            <a:off x="866775" y="3508027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break</a:t>
            </a:r>
            <a:endParaRPr/>
          </a:p>
        </p:txBody>
      </p:sp>
      <p:sp>
        <p:nvSpPr>
          <p:cNvPr id="549" name="Google Shape;549;p50"/>
          <p:cNvSpPr txBox="1"/>
          <p:nvPr/>
        </p:nvSpPr>
        <p:spPr>
          <a:xfrm>
            <a:off x="866775" y="3984277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Exits the loop entirely.</a:t>
            </a:r>
            <a:endParaRPr/>
          </a:p>
        </p:txBody>
      </p:sp>
      <p:sp>
        <p:nvSpPr>
          <p:cNvPr id="550" name="Google Shape;550;p50"/>
          <p:cNvSpPr txBox="1"/>
          <p:nvPr/>
        </p:nvSpPr>
        <p:spPr>
          <a:xfrm>
            <a:off x="4613225" y="3508027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continue</a:t>
            </a:r>
            <a:endParaRPr/>
          </a:p>
        </p:txBody>
      </p:sp>
      <p:sp>
        <p:nvSpPr>
          <p:cNvPr id="551" name="Google Shape;551;p50"/>
          <p:cNvSpPr txBox="1"/>
          <p:nvPr/>
        </p:nvSpPr>
        <p:spPr>
          <a:xfrm>
            <a:off x="4613225" y="3984277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Skips to the next iteration.</a:t>
            </a:r>
            <a:endParaRPr/>
          </a:p>
        </p:txBody>
      </p:sp>
      <p:sp>
        <p:nvSpPr>
          <p:cNvPr id="552" name="Google Shape;552;p50"/>
          <p:cNvSpPr txBox="1"/>
          <p:nvPr/>
        </p:nvSpPr>
        <p:spPr>
          <a:xfrm>
            <a:off x="8359675" y="3508027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pass</a:t>
            </a:r>
            <a:endParaRPr/>
          </a:p>
        </p:txBody>
      </p:sp>
      <p:sp>
        <p:nvSpPr>
          <p:cNvPr id="553" name="Google Shape;553;p50"/>
          <p:cNvSpPr txBox="1"/>
          <p:nvPr/>
        </p:nvSpPr>
        <p:spPr>
          <a:xfrm>
            <a:off x="8359675" y="3984277"/>
            <a:ext cx="296554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Does nothing (placeholder).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FINAL CHALLENGE</a:t>
            </a:r>
            <a:endParaRPr/>
          </a:p>
        </p:txBody>
      </p:sp>
      <p:sp>
        <p:nvSpPr>
          <p:cNvPr id="561" name="Google Shape;561;p5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1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Task: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Find the sum of even numbers in a list using a loop.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0" y="2024062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2"/>
          <p:cNvSpPr txBox="1"/>
          <p:nvPr/>
        </p:nvSpPr>
        <p:spPr>
          <a:xfrm>
            <a:off x="5135880" y="3167062"/>
            <a:ext cx="192024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570" name="Google Shape;570;p52"/>
          <p:cNvSpPr txBox="1"/>
          <p:nvPr/>
        </p:nvSpPr>
        <p:spPr>
          <a:xfrm>
            <a:off x="2943225" y="3690937"/>
            <a:ext cx="63055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Next Class: Functional Programming &amp; Modules</a:t>
            </a:r>
            <a:endParaRPr/>
          </a:p>
        </p:txBody>
      </p:sp>
      <p:sp>
        <p:nvSpPr>
          <p:cNvPr id="571" name="Google Shape;571;p52"/>
          <p:cNvSpPr txBox="1"/>
          <p:nvPr/>
        </p:nvSpPr>
        <p:spPr>
          <a:xfrm>
            <a:off x="4721503" y="4858725"/>
            <a:ext cx="274899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Keep Coding!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991</Words>
  <Application>Microsoft Office PowerPoint</Application>
  <PresentationFormat>Widescreen</PresentationFormat>
  <Paragraphs>183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Lato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Maysha Khanom Moon</cp:lastModifiedBy>
  <cp:revision>3</cp:revision>
  <dcterms:modified xsi:type="dcterms:W3CDTF">2026-07-11T16:58:36Z</dcterms:modified>
</cp:coreProperties>
</file>